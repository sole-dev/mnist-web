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2560320" cy="256032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219456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연구방법론 핵심 개념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매개효과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CED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Mediation Effect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50292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Baron &amp; Kenny (1986) 연구를 중심으로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Psychological Bulletin, 51(6), 1173-1182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배경 및 문제 제기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840480" cy="118872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7315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연구 동기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5272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심리학·사회과학 연구에서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'왜 X가 Y에 영향을 미치는가'를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설명하는 메커니즘이 필요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3840480" cy="118872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240280"/>
            <a:ext cx="7315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기존 한계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62432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→ Y의 단순 인과관계만 확인하고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 변수의 전달 역할을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분석하지 못했던 문제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611880"/>
            <a:ext cx="3840480" cy="1188720"/>
          </a:xfrm>
          <a:prstGeom prst="rect">
            <a:avLst/>
          </a:prstGeom>
          <a:solidFill>
            <a:srgbClr val="CCEDE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611880"/>
            <a:ext cx="7315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03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 연구 목적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99592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인과관계의 메커니즘을 설명하는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매개변수(M) 개념 정립 및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절차 체계화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868680"/>
            <a:ext cx="4114800" cy="39319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ED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Baron &amp; Kenny (1986)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14173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"The Moderator-Mediator Variable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Distinction in Social Psychological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Research: Conceptual, Strategic,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and Statistical Considerations"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37760" y="2514600"/>
            <a:ext cx="356616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피인용 횟수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80,000+회 이상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1272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저널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31272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Psychological Bulletin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60273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연도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36027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1986년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407822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의의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40782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매개분석의 표준 제시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매개효과의 개념 정의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매개효과(Mediation Effect)란 독립변수(X)가 종속변수(Y)에 영향을 미치는 과정에서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제3의 변수인 매개변수(Mediator, M)가 그 관계를 전달·설명하는 효과를 말한다.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8412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286000"/>
            <a:ext cx="1463040" cy="8229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86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독립변수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(X)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0" y="1920240"/>
            <a:ext cx="1463040" cy="8229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19202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매개변수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(M)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66560" y="2286000"/>
            <a:ext cx="1463040" cy="8229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2286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종속변수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(Y)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12848" y="2331720"/>
            <a:ext cx="1627632" cy="-18288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2011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21808" y="2331720"/>
            <a:ext cx="1444752" cy="18288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2011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12848" y="2697480"/>
            <a:ext cx="455371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65760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c' (직접효과)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0" y="3337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A2B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 = a×b + c'  (총효과 = 간접효과 + 직접효과)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977640"/>
            <a:ext cx="265176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0050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 매개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3251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c'= 0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X→Y 경로가 M을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통해서만 전달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3977640"/>
            <a:ext cx="2651760" cy="9144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40050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 매개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0" y="43251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c'≠ 0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M을 통한 간접 경로와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경로가 공존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3977640"/>
            <a:ext cx="2651760" cy="91440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40050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매개 없음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35040" y="43251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또는 b = 0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간접 경로가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성립하지 않음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Baron &amp; Kenny의 4단계 검증 절차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777240"/>
            <a:ext cx="7955280" cy="1024128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8321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1단계: X → Y 유의성 확인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822960"/>
            <a:ext cx="24231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8229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 = i₁ + cX + e₁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05840" y="111556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독립변수(X)가 종속변수(Y)에 유의미한 영향을 미쳐야 한다 (경로 c 유의).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매개효과의 전제 조건으로, 총효과가 존재해야 매개 분석이 의미를 가진다.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05840" y="1572768"/>
            <a:ext cx="210312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5727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c 계수 유의 (p &lt; .05)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98424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8680" y="1847088"/>
            <a:ext cx="7955280" cy="102412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1901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2단계: X → M 유의성 확인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892808"/>
            <a:ext cx="24231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8928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 = i₂ + aX + e₂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05840" y="218541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독립변수(X)가 매개변수(M)에 유의미한 영향을 미쳐야 한다 (경로 a 유의).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X가 M을 통한 간접 경로가 활성화되는지 확인한다.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05840" y="2642616"/>
            <a:ext cx="210312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264261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a 계수 유의 (p &lt; .05)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8600" y="3054096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054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68680" y="2916936"/>
            <a:ext cx="7955280" cy="1024128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2971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3단계: M → Y 유의성 확인 (X 통제)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2962656"/>
            <a:ext cx="24231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96265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 = i₃ + c'X + bM + e₃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05840" y="325526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X를 통제한 상태에서 매개변수(M)가 종속변수(Y)에 유의미한 영향을 미쳐야 한다.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b의 유의성 확인이 핵심이다.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05840" y="3712464"/>
            <a:ext cx="210312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371246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b 계수 유의 (p &lt; .05)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28600" y="4123944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4123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68680" y="3986784"/>
            <a:ext cx="7955280" cy="102412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" y="40416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4단계: 직접효과 약화 확인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4032504"/>
            <a:ext cx="24231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4032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c' &lt; c  (완전 매개: c' ≈ 0)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05840" y="432511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회귀에서 X의 계수(c')가 1단계의 c보다 감소해야 한다. c'= 0이면 완전 매개,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c'이 유의하면서 감소하면 부분 매개로 판단한다.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05840" y="4782312"/>
            <a:ext cx="21031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5840" y="478231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c' 감소 또는 비유의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간접효과 검정: Sobel 검정 &amp; 부트스트래핑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260604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73152" cy="2606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961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Sobel 검정 (1982)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2527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간접효과(a × b)의 유의성 검정을 위한 공식: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3749040" cy="5486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544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 = a×b / √(b²sₐ² + a²s_b²)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17627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sₐ: a 계수의 표준오차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s_b: b 계수의 표준오차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z &gt; 1.96 이면 간접효과 유의 (α=.05)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889504"/>
            <a:ext cx="2194560" cy="2468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8950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정규분포 가정 기반 검정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822960"/>
            <a:ext cx="4114800" cy="2606040"/>
          </a:xfrm>
          <a:prstGeom prst="rect">
            <a:avLst/>
          </a:prstGeom>
          <a:solidFill>
            <a:srgbClr val="CCEDE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822960"/>
            <a:ext cx="73152" cy="26060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8961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부트스트래핑 (권장 방법)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30759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1307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원자료에서 복원 추출 (N=5,000+번)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178308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각 표본에서 간접효과(a×b) 계산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225856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2258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95% 신뢰구간 추정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2734056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27340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CI가 0 포함하지 않으면 유의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2889504"/>
            <a:ext cx="2560320" cy="24688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88950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정규성 가정 불필요 → 더 정확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611880"/>
            <a:ext cx="8412480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67588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Baron &amp; Kenny 방법의 한계 및 후속 연구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39959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1단계(X→Y 유의) 조건이 지나치게 엄격 — 직접효과 없이도 간접효과가 존재 가능 (Hayes, 2009)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42885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4단계 판단이 주관적 — Preacher &amp; Hayes(2004)의 부트스트래핑 기반 PROCESS 매크로 등장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58114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PROCESS Macro(Hayes, 2013)로 간접효과의 신뢰구간 직접 산출 가능 → 현재 표준 분석 도구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결과 및 학문적 의의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651760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8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148132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CED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체계적 절차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CED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2651760" cy="30175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92024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인果관계 메커니즘 규명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804672"/>
            <a:ext cx="2651760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868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80K+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154680" y="148132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CED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피인용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CED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(Google Scholar)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1920240"/>
            <a:ext cx="2651760" cy="30175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92024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사회과학 최다 인용 논문 中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89320" y="804672"/>
            <a:ext cx="2651760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868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37년+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989320" y="148132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CED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지속적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CED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1920240"/>
            <a:ext cx="2651760" cy="30175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92024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1986 → 현재까지 적용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377440"/>
            <a:ext cx="8503920" cy="576072"/>
          </a:xfrm>
          <a:prstGeom prst="rect">
            <a:avLst/>
          </a:prstGeom>
          <a:solidFill>
            <a:srgbClr val="243066"/>
          </a:solidFill>
          <a:ln w="12700">
            <a:solidFill>
              <a:srgbClr val="2D3D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377440"/>
            <a:ext cx="1234440" cy="576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377440"/>
            <a:ext cx="1234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결과 ①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664208" y="2450592"/>
            <a:ext cx="6995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인과관계의 '메커니즘' 탐색 가능성 제시 — X와 Y의 관계를 설명하는 변수 M의 역할 규명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054096"/>
            <a:ext cx="8503920" cy="576072"/>
          </a:xfrm>
          <a:prstGeom prst="rect">
            <a:avLst/>
          </a:prstGeom>
          <a:solidFill>
            <a:srgbClr val="243066"/>
          </a:solidFill>
          <a:ln w="12700">
            <a:solidFill>
              <a:srgbClr val="2D3D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054096"/>
            <a:ext cx="1234440" cy="576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54096"/>
            <a:ext cx="1234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결과 ②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664208" y="3127248"/>
            <a:ext cx="6995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 매개 vs 부분 매개의 개념적 구분 확립 — 이론 검증의 정밀도 향상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730752"/>
            <a:ext cx="8503920" cy="576072"/>
          </a:xfrm>
          <a:prstGeom prst="rect">
            <a:avLst/>
          </a:prstGeom>
          <a:solidFill>
            <a:srgbClr val="243066"/>
          </a:solidFill>
          <a:ln w="12700">
            <a:solidFill>
              <a:srgbClr val="2D3D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730752"/>
            <a:ext cx="1234440" cy="576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730752"/>
            <a:ext cx="1234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결과 ③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664208" y="3803904"/>
            <a:ext cx="6995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조절변수(Moderator)와 매개변수(Mediator)의 개념적 구별 명확화 — 혼동 방지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4407408"/>
            <a:ext cx="8503920" cy="576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407408"/>
            <a:ext cx="1234440" cy="5760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407408"/>
            <a:ext cx="1234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학문적 의의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664208" y="4480560"/>
            <a:ext cx="6995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심리학·경영학·교육학·간호학 등 전 분야에서 인과 메커니즘 분석의 표준 프레임워크로 정착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적용 사례 및 분야별 활용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1280160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2296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조직심리학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37360" y="1078992"/>
            <a:ext cx="178308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107899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B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 스트레스 (X)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38728" y="1362456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94760" y="1078992"/>
            <a:ext cx="178308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107899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번아웃 (M)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596128" y="1362456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0" y="1078992"/>
            <a:ext cx="178308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107899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B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이직의도 (Y)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0" y="91440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스트레스 → 번아웃 → 이직의도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 스트레스가 번아웃을 통해 이직의도에 영향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258568"/>
            <a:ext cx="1280160" cy="12344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258568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교육심리학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737360" y="2514600"/>
            <a:ext cx="178308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25146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B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자기효능감 (X)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538728" y="2798064"/>
            <a:ext cx="164592" cy="0"/>
          </a:xfrm>
          <a:prstGeom prst="line">
            <a:avLst/>
          </a:prstGeom>
          <a:noFill/>
          <a:ln w="25400">
            <a:solidFill>
              <a:srgbClr val="1A2B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94760" y="2514600"/>
            <a:ext cx="1783080" cy="56692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25146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학습전략 (M)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596128" y="2798064"/>
            <a:ext cx="164592" cy="0"/>
          </a:xfrm>
          <a:prstGeom prst="line">
            <a:avLst/>
          </a:prstGeom>
          <a:noFill/>
          <a:ln w="25400">
            <a:solidFill>
              <a:srgbClr val="1A2B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52160" y="2514600"/>
            <a:ext cx="178308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25146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B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학업성취 (Y)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0" y="2350008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자기효능감 → 학습전략 → 학업성취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효능감이 학습전략 활용을 통해 성취에 기여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694176"/>
            <a:ext cx="128016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694176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737360" y="3950208"/>
            <a:ext cx="178308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0" y="395020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B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노출 (X)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538728" y="4233672"/>
            <a:ext cx="164592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94760" y="3950208"/>
            <a:ext cx="178308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94760" y="395020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태도 (M)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596128" y="4233672"/>
            <a:ext cx="164592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52160" y="3950208"/>
            <a:ext cx="178308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395020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B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구매의도 (Y)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772400" y="3785616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→ 브랜드 태도 → 구매의도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효과가 태도 변화를 거쳐 구매로 연결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CCEDE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🔧 분석 도구: SPSS PROCESS Macro (Hayes, 2013) · R mediation 패키지 · AMOS 구조방정식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ED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및 시사점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Baron &amp; Kenny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매개효과의 유산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594360"/>
          </a:xfrm>
          <a:prstGeom prst="rect">
            <a:avLst/>
          </a:prstGeom>
          <a:solidFill>
            <a:srgbClr val="1E3A6E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5029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ED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방법론적 기여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8992" y="239572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X→Y 인과관계를 '블랙박스'에서 '메커니즘'으로 열어 보이는 체계적 분석 절차를 최초 정립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807208"/>
            <a:ext cx="8229600" cy="594360"/>
          </a:xfrm>
          <a:prstGeom prst="rect">
            <a:avLst/>
          </a:prstGeom>
          <a:solidFill>
            <a:srgbClr val="1E3A6E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07208"/>
            <a:ext cx="5029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0720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8992" y="28529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ED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이론적 발전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8992" y="309981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간접효과의 개념화로 이론 검증의 정밀도를 높이고 변수 간 관계의 복잡성을 반영 가능하게 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511296"/>
            <a:ext cx="8229600" cy="594360"/>
          </a:xfrm>
          <a:prstGeom prst="rect">
            <a:avLst/>
          </a:prstGeom>
          <a:solidFill>
            <a:srgbClr val="1E3A6E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511296"/>
            <a:ext cx="5029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1129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8992" y="35570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ED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실천적 함의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78992" y="380390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개입 설계 시 어떤 경로(매개변수)를 타겟으로 해야 효과적인지 과학적 근거 제공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215384"/>
            <a:ext cx="8229600" cy="594360"/>
          </a:xfrm>
          <a:prstGeom prst="rect">
            <a:avLst/>
          </a:prstGeom>
          <a:solidFill>
            <a:srgbClr val="1E3A6E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215384"/>
            <a:ext cx="5029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1538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78992" y="42611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ED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현재적 의의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78992" y="450799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부트스트래핑, PROCESS Macro 등으로 발전하며 현재도 사회과학 연구의 핵심 분석 방법으로 활용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Baron, R. M., &amp; Kenny, D. A. (1986). Psychological Bulletin, 51(6), 1173-1182.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매개효과 연구 - Baron &amp; Kenny</dc:title>
  <dc:subject>PptxGenJS Presentation</dc:subject>
  <dc:creator>PptxGenJS</dc:creator>
  <cp:lastModifiedBy>PptxGenJS</cp:lastModifiedBy>
  <cp:revision>1</cp:revision>
  <dcterms:created xsi:type="dcterms:W3CDTF">2026-05-13T01:58:12Z</dcterms:created>
  <dcterms:modified xsi:type="dcterms:W3CDTF">2026-05-13T01:58:12Z</dcterms:modified>
</cp:coreProperties>
</file>